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7d67f100-8478-4bf7-f98f-0bfdc93cbb92}">
          <p14:sldIdLst>
            <p14:sldId id="256"/>
          </p14:sldIdLst>
        </p14:section>
        <p14:section name="Problem" id="{5089115d-e33f-30d4-01f9-59f0f42a206f}">
          <p14:sldIdLst>
            <p14:sldId id="257"/>
          </p14:sldIdLst>
        </p14:section>
        <p14:section name="Solution design" id="{bf05aa68-e449-ca5f-d812-d79376135774}">
          <p14:sldIdLst>
            <p14:sldId id="258"/>
            <p14:sldId id="259"/>
          </p14:sldIdLst>
        </p14:section>
        <p14:section name="Technology selection" id="{33ad8f07-6892-ee9c-566f-68641dfc19d5}">
          <p14:sldIdLst>
            <p14:sldId id="260"/>
            <p14:sldId id="261"/>
          </p14:sldIdLst>
        </p14:section>
        <p14:section name="Function implementation" id="{5fd91e45-a7e1-7203-ac7c-f9b087506cd1}">
          <p14:sldIdLst>
            <p14:sldId id="262"/>
            <p14:sldId id="263"/>
            <p14:sldId id="264"/>
          </p14:sldIdLst>
        </p14:section>
        <p14:section name="Effect and value" id="{381c6c79-a3b8-534a-bb18-feed35743d0c}">
          <p14:sldIdLst>
            <p14:sldId id="265"/>
          </p14:sldIdLst>
        </p14:section>
        <p14:section name="Closing" id="{523e5d68-9142-ffe3-8ed6-c30b7fc4c376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team. NotebookOS turns a trader's handwritten notebook into structured, trustworthy business records, with every number traceable to the line it came from. All data in this presentation is fictional.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Many small traders keep their whole business in a notebook: sales, credit (bashi), repayments, expenses. It is trusted, but it is not computable. Simple OCR is not enough either: text is not business data, and an AI that guesses unclear values creates untrustworthy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core principle: AI-powered business memory with traceable evidence. AI does the reading, code does the checking and arithmetic, the trader makes the decision, and every number keeps its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pipeline left to right. Emphasise the trader checkpoint between validation and summarising, and the provenance loop: every number on the dashboard links back to the page, row and pixel box it came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which Huawei technologies are used and how, exactly as their status is on the day. ModelArts is required by the competition: confirm it is integrated before the final presentation and update this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 architecture. Be clear about what is deployed today: the live demo currently runs on Vercel and Render while the Huawei Cloud deployment is 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moment: the smudged Musa line is flagged at 61%, and the quantity is left unclear instead of invented. The trader edits it to 2 and confirms.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signature feature: provenance. Every dashboard number opens its evidence, down to the highlighted line on the original notebook photo.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principles answer a judge's question about trust: AI helps, but never decides and never invents figures.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claim what is true: tests, the working live demo and the design properties. Do not quote user numbers, market sizes or impact statistics; none have been measured.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quote. Offer the live demo link and the open-source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NotebookOS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BD7C3"/>
                </a:solidFill>
              </a:rPr>
              <a:t>Huawei ICT Competition · Innovation Competition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NotebookOS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DDEBE1"/>
                </a:solidFill>
              </a:rPr>
              <a:t>Your business already has a database. It's just handwritten.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120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D7C3"/>
                </a:solidFill>
              </a:rPr>
              <a:t>[Team name] · [University / college]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BD7C3"/>
                </a:solidFill>
              </a:rPr>
              <a:t>[Student 1], [Student 2], [Student 3] · Instructor: [Instructor name]</a:t>
            </a:r>
            <a:endParaRPr lang="en-US" sz="1400" dirty="0"/>
          </a:p>
        </p:txBody>
      </p:sp>
      <p:pic>
        <p:nvPicPr>
          <p:cNvPr id="6" name="notebook-photo" descr="C:\Users\LENOVO\AppData\Local\Temp\claude\c--Users-LENOVO-Documents-GitHub-NOTEBOOK-OS\a65da6aa-67be-44b0-b732-8c72b31c7072\scratchpad\deliverables\img\notebook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640080"/>
            <a:ext cx="347472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notebook works, but it can't be counted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12064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 real-style notebook entry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0574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“Musa shinkafa 2? 20k bashi”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9718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Musa took rice on credit (bashi) worth ₦20,000. The quantity is smudged.</a:t>
            </a:r>
            <a:endParaRPr lang="en-US" sz="1600" dirty="0"/>
          </a:p>
        </p:txBody>
      </p:sp>
      <p:sp>
        <p:nvSpPr>
          <p:cNvPr id="7" name="num-1"/>
          <p:cNvSpPr/>
          <p:nvPr/>
        </p:nvSpPr>
        <p:spPr>
          <a:xfrm>
            <a:off x="6309360" y="1417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13716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Can't be totalled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181051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Daily sales and expenses live on paper; nobody adds them up reliably.</a:t>
            </a:r>
            <a:endParaRPr lang="en-US" sz="1500" dirty="0"/>
          </a:p>
        </p:txBody>
      </p:sp>
      <p:sp>
        <p:nvSpPr>
          <p:cNvPr id="11" name="num-2"/>
          <p:cNvSpPr/>
          <p:nvPr/>
        </p:nvSpPr>
        <p:spPr>
          <a:xfrm>
            <a:off x="6309360" y="2560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25146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Can't see who owes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95351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Credit given to customers is scattered across pages and days.</a:t>
            </a:r>
            <a:endParaRPr lang="en-US" sz="1500" dirty="0"/>
          </a:p>
        </p:txBody>
      </p:sp>
      <p:sp>
        <p:nvSpPr>
          <p:cNvPr id="15" name="num-3"/>
          <p:cNvSpPr/>
          <p:nvPr/>
        </p:nvSpPr>
        <p:spPr>
          <a:xfrm>
            <a:off x="6309360" y="3703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36576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Can't be shown to a lender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409651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There is no trustworthy summary of the business to share.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0749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3"/>
                </a:solidFill>
              </a:rPr>
              <a:t>And AI that silently “fills in” unclear values makes numbers nobody can trust.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AI reads. Code checks. The trader decides.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69164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AI reads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9260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OCR or speech reads the page; a language model turns mixed Hausa and English into structured records. Unclear → null, never a guess.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1417320"/>
            <a:ext cx="352044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169164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423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Code checks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9260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Deterministic validation: is every amount and name really in the source text? Do the page totals match? All metrics are exact arithmetic in code.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46720" y="1417320"/>
            <a:ext cx="352044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66760" y="1691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667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2423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The trader decides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9260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Uncertain fields are highlighted. Only records the trader confirms become official business data.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029200"/>
            <a:ext cx="11094415" cy="777240"/>
          </a:xfrm>
          <a:prstGeom prst="roundRect">
            <a:avLst>
              <a:gd name="adj" fmla="val 14118"/>
            </a:avLst>
          </a:prstGeom>
          <a:solidFill>
            <a:srgbClr val="E3EFE6"/>
          </a:solidFill>
          <a:ln w="12700">
            <a:solidFill>
              <a:srgbClr val="E3EF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502920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Every number has provenance: page · row · pixel box · AI confidence · trader's correction · confirmation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Four-stage pipeline with a human checkpoint</a:t>
            </a:r>
            <a:endParaRPr lang="en-US" sz="3200" dirty="0"/>
          </a:p>
        </p:txBody>
      </p:sp>
      <p:pic>
        <p:nvPicPr>
          <p:cNvPr id="3" name="Image 0" descr="C:\Users\LENOVO\AppData\Local\Temp\claude\c--Users-LENOVO-Documents-GitHub-NOTEBOOK-OS\a65da6aa-67be-44b0-b732-8c72b31c7072\scratchpad\deliverables\img\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94415" cy="349474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9834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READ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OCR / speech → lines with confidence and position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3337560" y="49834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UNDERSTAND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strict JSON records that must cite their source line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49834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VALIDATE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amount-in-source, required fields, written totals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915400" y="498348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SUMMARIZE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exact metrics from CONFIRMED records only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Huawei technologies in NotebookOS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4066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566160"/>
                <a:gridCol w="19202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Huawei technology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Role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ModelArts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Hosted language model for UNDERSTAND (notebook lines → records)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Integration in progress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Huawei Cloud OCR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Handwriting recognition for READ (photos, with line positions)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Implemented; live test pending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SIS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Speech-to-text for voice notes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Implemented; live test pending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ECS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Hosts the web app and API (Docker)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Scripts ready; deployment pending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RDS for MySQL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System of record: records, provenance, reports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Verified on MySQL 8.4; RDS pending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DCS / OBS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Sessions / private photo storage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Supported (optional)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412480" y="1371600"/>
            <a:ext cx="3227832" cy="4297680"/>
          </a:xfrm>
          <a:prstGeom prst="roundRect">
            <a:avLst>
              <a:gd name="adj" fmla="val 33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41080" y="1600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Status is stated honestly.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641080" y="205740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highlight>
                  <a:srgbClr val="FFFF00"/>
                </a:highlight>
              </a:rPr>
              <a:t>[Update this table as each integration is completed before submission.]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641080" y="3154680"/>
            <a:ext cx="2788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Other stack: React + TypeScript (web), Python FastAPI (API), SQLAlchemy + Alembic, pytest. Provider interfaces keep AI swappable, with offline fallbacks.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Deployment on Huawei Cloud</a:t>
            </a:r>
            <a:endParaRPr lang="en-US" sz="3200" dirty="0"/>
          </a:p>
        </p:txBody>
      </p:sp>
      <p:pic>
        <p:nvPicPr>
          <p:cNvPr id="3" name="Image 0" descr="C:\Users\LENOVO\AppData\Local\Temp\claude\c--Users-LENOVO-Documents-GitHub-NOTEBOOK-OS\a65da6aa-67be-44b0-b732-8c72b31c7072\scratchpad\deliverables\img\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8229600" cy="40325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0" y="15544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web app and API run on ECS inside a VPC.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9144000" y="25603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Business data lives in RDS for MySQL, which has no public access.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9144000" y="36576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AI runs on Huawei Cloud OCR, ModelArts and SIS.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0" y="47548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Interim live demo: Vercel + Render.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Review: the AI shows its work, the trader confirms</a:t>
            </a:r>
            <a:endParaRPr lang="en-US" sz="3200" dirty="0"/>
          </a:p>
        </p:txBody>
      </p:sp>
      <p:pic>
        <p:nvPicPr>
          <p:cNvPr id="3" name="Image 0" descr="C:\Users\LENOVO\AppData\Local\Temp\claude\c--Users-LENOVO-Documents-GitHub-NOTEBOOK-OS\a65da6aa-67be-44b0-b732-8c72b31c7072\scratchpad\deliverables\img\c-review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852160" cy="4911634"/>
          </a:xfrm>
          <a:prstGeom prst="rect">
            <a:avLst/>
          </a:prstGeom>
        </p:spPr>
      </p:pic>
      <p:sp>
        <p:nvSpPr>
          <p:cNvPr id="4" name="num-1"/>
          <p:cNvSpPr/>
          <p:nvPr/>
        </p:nvSpPr>
        <p:spPr>
          <a:xfrm>
            <a:off x="6766560" y="13716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766560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360920" y="135331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Every line boxed on the photo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60920" y="1755648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The trader sees exactly what the AI read.</a:t>
            </a:r>
            <a:endParaRPr lang="en-US" sz="1500" dirty="0"/>
          </a:p>
        </p:txBody>
      </p:sp>
      <p:sp>
        <p:nvSpPr>
          <p:cNvPr id="8" name="num-2"/>
          <p:cNvSpPr/>
          <p:nvPr/>
        </p:nvSpPr>
        <p:spPr>
          <a:xfrm>
            <a:off x="6766560" y="2487168"/>
            <a:ext cx="438912" cy="43891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66560" y="2487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60920" y="24688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Smudged line flagged at 61%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360920" y="2871216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Musa's record needs review; confident rows don't.</a:t>
            </a:r>
            <a:endParaRPr lang="en-US" sz="1500" dirty="0"/>
          </a:p>
        </p:txBody>
      </p:sp>
      <p:sp>
        <p:nvSpPr>
          <p:cNvPr id="12" name="num-3"/>
          <p:cNvSpPr/>
          <p:nvPr/>
        </p:nvSpPr>
        <p:spPr>
          <a:xfrm>
            <a:off x="6766560" y="3602736"/>
            <a:ext cx="438912" cy="43891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766560" y="36027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360920" y="358444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Unclear quantity is not guessed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7360920" y="3986784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It is marked unclear for the trader to fill in.</a:t>
            </a:r>
            <a:endParaRPr lang="en-US" sz="1500" dirty="0"/>
          </a:p>
        </p:txBody>
      </p:sp>
      <p:sp>
        <p:nvSpPr>
          <p:cNvPr id="16" name="num-4"/>
          <p:cNvSpPr/>
          <p:nvPr/>
        </p:nvSpPr>
        <p:spPr>
          <a:xfrm>
            <a:off x="6766560" y="4718304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766560" y="47183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360920" y="470001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Written total cross-checked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7360920" y="510235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The page total (₦63,000) matches the sales found.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“This number did not come from nowhere”</a:t>
            </a:r>
            <a:endParaRPr lang="en-US" sz="3200" dirty="0"/>
          </a:p>
        </p:txBody>
      </p:sp>
      <p:pic>
        <p:nvPicPr>
          <p:cNvPr id="3" name="Image 0" descr="C:\Users\LENOVO\AppData\Local\Temp\claude\c--Users-LENOVO-Documents-GitHub-NOTEBOOK-OS\a65da6aa-67be-44b0-b732-8c72b31c7072\scratchpad\deliverables\img\c-dashboard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035040" cy="3933553"/>
          </a:xfrm>
          <a:prstGeom prst="rect">
            <a:avLst/>
          </a:prstGeom>
        </p:spPr>
      </p:pic>
      <p:pic>
        <p:nvPicPr>
          <p:cNvPr id="4" name="Image 1" descr="C:\Users\LENOVO\AppData\Local\Temp\claude\c--Users-LENOVO-Documents-GitHub-NOTEBOOK-OS\a65da6aa-67be-44b0-b732-8c72b31c7072\scratchpad\deliverables\img\c-evidence-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280160"/>
            <a:ext cx="1783080" cy="46634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915400" y="13258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Tap Outstanding Debt ₦40,000 to see every contributing record: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8915400" y="2286000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Notebook page 2, row 4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Original text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 confidence 61%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Trader's correction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Confirmation time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Line highlighted on the photo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8915400" y="48920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Metrics count CONFIRMED records only, and are calculated in code.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Built to be trusted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4068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um-1"/>
          <p:cNvSpPr/>
          <p:nvPr/>
        </p:nvSpPr>
        <p:spPr>
          <a:xfrm>
            <a:off x="822960" y="1645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45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No invention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19456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Unclear values become null; records that can't cite a source line are discarded; AI amounts are checked against the text.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72200" y="1371600"/>
            <a:ext cx="544068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-2"/>
          <p:cNvSpPr/>
          <p:nvPr/>
        </p:nvSpPr>
        <p:spPr>
          <a:xfrm>
            <a:off x="6446520" y="1645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1645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AI never does arithmetic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19456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Exact decimal maths in code. An AI-written summary is rejected if it adds any number.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544068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um-3"/>
          <p:cNvSpPr/>
          <p:nvPr/>
        </p:nvSpPr>
        <p:spPr>
          <a:xfrm>
            <a:off x="822960" y="3840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8404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Works when AI is down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38912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Provider fallbacks and manual entry, so the trader is never blocked.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72200" y="3566160"/>
            <a:ext cx="544068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num-4"/>
          <p:cNvSpPr/>
          <p:nvPr/>
        </p:nvSpPr>
        <p:spPr>
          <a:xfrm>
            <a:off x="6446520" y="3840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38404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Privacy by default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38912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Explicit consent before sharing. Reports use a revocable read-only link and never show customer names or photos. Not a credit score.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Effect and value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86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automated backend tests pass, including a full upload-to-report test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297680" y="13258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4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23774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AI and code stages, with a human checkpoint before any number counts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13258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1 tap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23774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from any dashboard number to the original notebook line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544068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657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Social value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16052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Traders keep the notebook they trust. They see who owes them, and they get an honest, traceable summary to show a lender or supplier.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72200" y="3520440"/>
            <a:ext cx="544068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3657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Scales beyond one city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416052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Currency, language vocabulary, date format and thresholds are configuration; a new language is a data file. Next: lenders and cooperatives as partners.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Accuracy on real notebooks has not been measured yet; there are no users or pilots. All demo data is fictional.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438912" cy="438912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55448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EBE1"/>
                </a:solidFill>
              </a:rPr>
              <a:t>Complete the ModelArts + Huawei Cloud OCR integration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438912" cy="438912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86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28600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EBE1"/>
                </a:solidFill>
              </a:rPr>
              <a:t>Deploy on Huawei Cloud ECS with RDS for MySQL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438912" cy="438912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017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01752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EBE1"/>
                </a:solidFill>
              </a:rPr>
              <a:t>Evaluate on real, consented, anonymised notebook pages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0233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chemeClr val="bg1"/>
                </a:solidFill>
              </a:rPr>
              <a:t>“NotebookOS doesn't ask informal businesses to stop using the notebook they already trust. It makes that notebook computable.”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D7C3"/>
                </a:solidFill>
              </a:rPr>
              <a:t>Live demo: notebook-os-xi.vercel.app · Code: github.com/usmanmasud/NOTEBOOK-OS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tebookOS">
  <a:themeElements>
    <a:clrScheme name="NotebookOS">
      <a:dk1>
        <a:srgbClr val="1B1C1A"/>
      </a:dk1>
      <a:lt1>
        <a:srgbClr val="FFFFFF"/>
      </a:lt1>
      <a:dk2>
        <a:srgbClr val="14532D"/>
      </a:dk2>
      <a:lt2>
        <a:srgbClr val="F1F5F2"/>
      </a:lt2>
      <a:accent1>
        <a:srgbClr val="14532D"/>
      </a:accent1>
      <a:accent2>
        <a:srgbClr val="2E7D4F"/>
      </a:accent2>
      <a:accent3>
        <a:srgbClr val="B45309"/>
      </a:accent3>
      <a:accent4>
        <a:srgbClr val="2A78D6"/>
      </a:accent4>
      <a:accent5>
        <a:srgbClr val="C7000B"/>
      </a:accent5>
      <a:accent6>
        <a:srgbClr val="77756F"/>
      </a:accent6>
      <a:hlink>
        <a:srgbClr val="2A78D6"/>
      </a:hlink>
      <a:folHlink>
        <a:srgbClr val="6D28D9"/>
      </a:folHlink>
    </a:clrScheme>
    <a:fontScheme name="NotebookO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NotebookOS</dc:title>
  <dc:subject>PptxGenJS Presentation</dc:subject>
  <dc:creator>[Team name]</dc:creator>
  <cp:lastModifiedBy>[Team name]</cp:lastModifiedBy>
  <cp:revision>1</cp:revision>
  <dcterms:created xsi:type="dcterms:W3CDTF">2026-10-08T22:38:56Z</dcterms:created>
  <dcterms:modified xsi:type="dcterms:W3CDTF">2026-10-08T22:38:56Z</dcterms:modified>
</cp:coreProperties>
</file>